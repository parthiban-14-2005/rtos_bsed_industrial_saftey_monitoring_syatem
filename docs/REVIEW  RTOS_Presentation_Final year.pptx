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74" r:id="rId19"/>
    <p:sldId id="281" r:id="rId20"/>
    <p:sldId id="28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8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388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412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RTOS-Driven Industrial Security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44658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Using ESP32, IoT, and Machine Learning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1818" y="304038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K.MOHAMMED ZAHEER ( 950322106009 )           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N.PARTHIBAN                    ( 950322106011 )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V.SAKTHI RAJA                  ( 950322106012 )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B.E.Electronics and Communication Engineering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2025-2026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Modern industries demand real-time monitoring, safety, and efficiency. Traditional loop-based embedded systems fail to meet strict timing requirements for simultaneous critical tasks.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973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9571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46285" y="2277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Critical for safety, productivity,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 efficiency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512" y="18973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22664" y="1929032"/>
            <a:ext cx="251459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Operating</a:t>
            </a:r>
            <a:r>
              <a:rPr lang="en-US" sz="1500" dirty="0"/>
              <a:t> 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712991" y="2354580"/>
            <a:ext cx="260340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Deterministic scheduling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 priority execution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636" y="1906172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08115" y="1974753"/>
            <a:ext cx="159580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Security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796455" y="2349304"/>
            <a:ext cx="22068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Prevent equipment damage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 human injury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40080" y="3200400"/>
            <a:ext cx="7863840" cy="1188720"/>
          </a:xfrm>
          <a:prstGeom prst="rect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914400" y="3383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integrates RTOS task scheduling, IoT communication, and Machine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create an intelligent industrial monitoring system using ESP32.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 RTOS-based industrial monitoring system using ESP32</a:t>
            </a:r>
            <a:endParaRPr lang="en-US" sz="1600" dirty="0"/>
          </a:p>
          <a:p>
            <a:pPr marL="342900" indent="-342900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Ensure industrial security, safety, and reliability through real-time task scheduling</a:t>
            </a:r>
            <a:endParaRPr lang="en-US" sz="1600" dirty="0"/>
          </a:p>
          <a:p>
            <a:pPr marL="342900" indent="-342900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 performance: task execution time, CPU load, communication latency</a:t>
            </a:r>
            <a:endParaRPr lang="en-US" sz="1600" dirty="0"/>
          </a:p>
          <a:p>
            <a:pPr marL="342900" indent="-342900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data transmission using IoT protocols (MQTT/WebSocket)</a:t>
            </a:r>
            <a:endParaRPr lang="en-US" sz="1600" dirty="0"/>
          </a:p>
          <a:p>
            <a:pPr marL="342900" indent="-342900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Visualize live industrial data on mobile/web application</a:t>
            </a:r>
            <a:endParaRPr lang="en-US" sz="1600" dirty="0"/>
          </a:p>
          <a:p>
            <a:pPr marL="342900" indent="-342900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Analyze abnormal conditions using Machine Learning for predictive safety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(1/3)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 Chandrasekaran, (2025)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"RTOS Based Industrial Automation," i-manager's Journal on Embedded Systems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Proposed: 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OSA RTOS for industrial automation controlling temperature, PIR motion detection, and metal detection with context switching and multitasking capabilities.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80467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[2] Trivedi and Vora,  (2023)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"Real-Time Monitoring and Control System for Industry," IJSRD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687717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Proposed: 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ARM7-based system with Zigbee wireless communication for monitoring temperature, humidity, and pressure; includes GSM alerts and PC-based visualization.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(2/3)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 Barrett (2023)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"Real-Time Operating Systems: A Visual Simulator," ASEE Annual Conference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Proposed: 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 hardware simulator for teaching RTOS concepts with HCS12 microprocessor displaying status of 16 competing tasks using scheduling algorithms like RMS and EDF.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80467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[4] Jose Sistus, (2022)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"RTOS Based Device Control and Energy Monitoring System," IJARTET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6804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Proposed: 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 RTOS on LPC2148 with IEEE 802.15.4 protocol for collision-free data transmission; integrated IoT for environmental and energy monitoring with M2M communication.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(3/3)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[5] Ahmad and Prabowo (2021)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"Real Time Operating Systems for Embedded Applications: Design and Implementation," Journal of Integrated VLSI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Proposed: 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Comprehensive RTOS design patterns including task scheduling algorithms (RMS, EDF), interrupt handling optimization, and deterministic memory management techniques.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80467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[6] Chaganty (2020)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"Design &amp; Development of Real-Time Multitasking Microkernel Based on ARM7TDMI," IJICA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5890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Proposed: 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32-task real-time microkernel on ARM7TDMI with OS functions for task creation, multitasking, scheduling, context switching, and inter-task communication.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1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Gaps in Existing Research: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787769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SzPct val="10000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Lack of integrated systems combining RTOS, IoT, and ML in a single prototype.</a:t>
            </a:r>
          </a:p>
          <a:p>
            <a:pPr algn="just">
              <a:buSzPct val="100000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Minimal focus on task-level performance monitoring (execution time, latency).</a:t>
            </a:r>
          </a:p>
          <a:p>
            <a:pPr algn="just">
              <a:buSzPct val="100000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 real-time visualization of RTOS task behavior on mobile applications.</a:t>
            </a:r>
          </a:p>
          <a:p>
            <a:pPr algn="just">
              <a:buSzPct val="100000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systems react to faults instead of predicting them.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78638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0626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These gaps highlight the need for a comprehensive RTOS-driven solution with integrated performance monitoring and predictive intelligence.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of Proposed 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Integrated Architecture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17319" y="1874520"/>
            <a:ext cx="28522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FreeRTOS + IoT + ML in single system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3657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632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Task Performance Monitoring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91540" y="3520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analysis of execution time and latency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846319" y="1291590"/>
            <a:ext cx="3657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4173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3212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Solution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846321" y="18428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 → IoT Protocol → Backend → Mobile App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846320" y="2926080"/>
            <a:ext cx="3657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0632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32120" y="3108960"/>
            <a:ext cx="2310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Predictive Intelligence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983480" y="354154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ML-based anomaly detection and safety prediction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Architecture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Traditional Industrial Embedded Systems: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80757" y="1783080"/>
            <a:ext cx="1371600" cy="731520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52357" y="2043332"/>
            <a:ext cx="640080" cy="27432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2792437" y="1828800"/>
            <a:ext cx="1371600" cy="731520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1886" y="181473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57003" y="2068830"/>
            <a:ext cx="640080" cy="27432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10" name="Shape 8"/>
          <p:cNvSpPr/>
          <p:nvPr/>
        </p:nvSpPr>
        <p:spPr>
          <a:xfrm>
            <a:off x="4797083" y="1828800"/>
            <a:ext cx="1371600" cy="731520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7083" y="18288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1649" y="2080260"/>
            <a:ext cx="640080" cy="27432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6794695" y="1851660"/>
            <a:ext cx="1371600" cy="731520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4695" y="18428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667586"/>
            <a:ext cx="20820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0883" y="3186332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Loop-based programming with no task prioritization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risk of system failure during heavy load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predictive fault detection capabilities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monitoring causes delayed intervention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3134" y="24003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44661" y="1085850"/>
            <a:ext cx="1371600" cy="1097280"/>
          </a:xfrm>
          <a:prstGeom prst="rect">
            <a:avLst/>
          </a:prstGeom>
          <a:solidFill>
            <a:srgbClr val="1C7293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4661" y="106299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23294" y="1474470"/>
            <a:ext cx="457200" cy="27432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2187527" y="1062990"/>
            <a:ext cx="1371600" cy="1097280"/>
          </a:xfrm>
          <a:prstGeom prst="rect">
            <a:avLst/>
          </a:prstGeom>
          <a:solidFill>
            <a:srgbClr val="065A82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66428" y="104013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59127" y="1474470"/>
            <a:ext cx="457200" cy="27432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9" name="Shape 7"/>
          <p:cNvSpPr/>
          <p:nvPr/>
        </p:nvSpPr>
        <p:spPr>
          <a:xfrm>
            <a:off x="4009294" y="1062990"/>
            <a:ext cx="1371600" cy="1097280"/>
          </a:xfrm>
          <a:prstGeom prst="rect">
            <a:avLst/>
          </a:prstGeom>
          <a:solidFill>
            <a:srgbClr val="02C39A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9294" y="106299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(MQTT)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80893" y="1481504"/>
            <a:ext cx="464233" cy="274320"/>
          </a:xfrm>
          <a:prstGeom prst="rightArrow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5845126" y="1085850"/>
            <a:ext cx="1371600" cy="1097280"/>
          </a:xfrm>
          <a:prstGeom prst="rect">
            <a:avLst/>
          </a:prstGeom>
          <a:solidFill>
            <a:srgbClr val="1C7293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2377" y="1071782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6727" y="1516673"/>
            <a:ext cx="450168" cy="274320"/>
          </a:xfrm>
          <a:prstGeom prst="rightArrow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7666894" y="1070024"/>
            <a:ext cx="1371600" cy="1097280"/>
          </a:xfrm>
          <a:prstGeom prst="rect">
            <a:avLst/>
          </a:prstGeom>
          <a:solidFill>
            <a:srgbClr val="065A82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6894" y="1055956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Mobile/Web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86334" y="2434590"/>
            <a:ext cx="2743200" cy="822960"/>
          </a:xfrm>
          <a:prstGeom prst="rect">
            <a:avLst/>
          </a:prstGeom>
          <a:solidFill>
            <a:srgbClr val="02C39A">
              <a:alpha val="80000"/>
            </a:srgbClr>
          </a:solidFill>
          <a:ln w="25400">
            <a:solidFill>
              <a:srgbClr val="02C39A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18" y="267462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924886" y="2476793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488854" y="3299753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8894" y="361451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task scheduling</a:t>
            </a:r>
            <a:endParaRPr lang="en-US" sz="14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monitoring</a:t>
            </a:r>
            <a:endParaRPr lang="en-US" sz="14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fault detection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ardware Components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00000"/>
            <a:ext cx="8229600" cy="53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Hardware Components</a:t>
            </a:r>
          </a:p>
        </p:txBody>
      </p:sp>
      <p:sp>
        <p:nvSpPr>
          <p:cNvPr id="3" name="LeftBox"/>
          <p:cNvSpPr/>
          <p:nvPr/>
        </p:nvSpPr>
        <p:spPr>
          <a:xfrm>
            <a:off x="457200" y="850000"/>
            <a:ext cx="2600000" cy="3950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DevKit</a:t>
            </a:r>
          </a:p>
          <a:p>
            <a:pPr marL="0" indent="0">
              <a:buNone/>
            </a:pPr>
            <a:r>
              <a:rPr lang="en-US" sz="400" dirty="0">
                <a:solidFill>
                  <a:srgbClr val="1C72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HC-SR501 PIR Motion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Door Sensor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MQ-2 Gas Sensor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KY-038 Noise Sensor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SW-420 Vibration Sensor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DS3231 RTC Module</a:t>
            </a:r>
          </a:p>
        </p:txBody>
      </p:sp>
      <p:sp>
        <p:nvSpPr>
          <p:cNvPr id="4" name="MidBox"/>
          <p:cNvSpPr/>
          <p:nvPr/>
        </p:nvSpPr>
        <p:spPr>
          <a:xfrm>
            <a:off x="3200000" y="850000"/>
            <a:ext cx="2600000" cy="395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Actuators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 - Audio Alert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 Relay - Cooling Control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 Buttons</a:t>
            </a:r>
          </a:p>
          <a:p>
            <a:pPr marL="0" indent="0">
              <a:buNone/>
            </a:pPr>
            <a:r>
              <a:rPr lang="en-US" sz="400" dirty="0">
                <a:solidFill>
                  <a:srgbClr val="065A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 Status Indicator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 Alarm Indicator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 Normal Operation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E8F4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OLED Display</a:t>
            </a:r>
          </a:p>
        </p:txBody>
      </p:sp>
      <p:sp>
        <p:nvSpPr>
          <p:cNvPr id="5" name="RightBox"/>
          <p:cNvSpPr/>
          <p:nvPr/>
        </p:nvSpPr>
        <p:spPr>
          <a:xfrm>
            <a:off x="5943000" y="850000"/>
            <a:ext cx="2743800" cy="3950000"/>
          </a:xfrm>
          <a:prstGeom prst="rect">
            <a:avLst/>
          </a:prstGeom>
          <a:solidFill>
            <a:srgbClr val="021E3A"/>
          </a:solidFill>
          <a:ln>
            <a:noFill/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Component Roles</a:t>
            </a:r>
          </a:p>
          <a:p>
            <a:pPr marL="0" indent="0">
              <a:buNone/>
            </a:pPr>
            <a:r>
              <a:rPr lang="en-US" sz="400" dirty="0">
                <a:solidFill>
                  <a:schemeClr val="bg1"/>
                </a:solidFill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+ FreeRTOS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 RTOS controller with Wi-Fi for IoT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PIR + Door Sensor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entry detection in restricted zones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MQ-2 Gas Sensor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Gas/smoke hazard detection and prevention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Relay + Fan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cooling and exhaust on thermal events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DS3231 RTC</a:t>
            </a: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timestamps for event logging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ystem Block Diagram">
    <p:bg>
      <p:bgPr>
        <a:solidFill>
          <a:srgbClr val="02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50000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/>
              </a:rPr>
              <a:t>System Block Diagram</a:t>
            </a:r>
          </a:p>
        </p:txBody>
      </p:sp>
      <p:sp>
        <p:nvSpPr>
          <p:cNvPr id="3" name="SensorBox"/>
          <p:cNvSpPr/>
          <p:nvPr/>
        </p:nvSpPr>
        <p:spPr>
          <a:xfrm>
            <a:off x="457200" y="730000"/>
            <a:ext cx="1600000" cy="3800000"/>
          </a:xfrm>
          <a:prstGeom prst="rect">
            <a:avLst/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txBody>
          <a:bodyPr wrap="square" lIns="91440" tIns="91440" rIns="91440" bIns="91440" rtlCol="0" anchor="t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INPUT SENSORS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PIR Sensor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Sensor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 Sensor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RTC Module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Sensor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Vibration Sensor 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sz="1200" dirty="0">
              <a:solidFill>
                <a:srgbClr val="1C7293"/>
              </a:solidFill>
            </a:endParaRPr>
          </a:p>
        </p:txBody>
      </p:sp>
      <p:sp>
        <p:nvSpPr>
          <p:cNvPr id="4" name="Arrow1"/>
          <p:cNvSpPr/>
          <p:nvPr/>
        </p:nvSpPr>
        <p:spPr>
          <a:xfrm>
            <a:off x="2057200" y="1530000"/>
            <a:ext cx="3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5" name="RTOSBox"/>
          <p:cNvSpPr/>
          <p:nvPr/>
        </p:nvSpPr>
        <p:spPr>
          <a:xfrm>
            <a:off x="2437200" y="730000"/>
            <a:ext cx="1800000" cy="3800000"/>
          </a:xfrm>
          <a:prstGeom prst="rect">
            <a:avLst/>
          </a:prstGeom>
          <a:solidFill>
            <a:srgbClr val="065A82"/>
          </a:solidFill>
          <a:ln w="19050">
            <a:solidFill>
              <a:srgbClr val="02C39A"/>
            </a:solidFill>
          </a:ln>
        </p:spPr>
        <p:txBody>
          <a:bodyPr wrap="square" lIns="91440" tIns="91440" rIns="91440" bIns="9144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/>
              </a:rPr>
              <a:t>ESP32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/>
              </a:rPr>
              <a:t>FreeRTOS</a:t>
            </a:r>
          </a:p>
          <a:p>
            <a:pPr marL="0" indent="0" algn="ctr">
              <a:buNone/>
            </a:pPr>
            <a:r>
              <a:rPr lang="en-US" sz="400" dirty="0">
                <a:solidFill>
                  <a:srgbClr val="065A82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TASKS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Task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Task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EmergencyTask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MonitorTask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CommTask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PerfTask</a:t>
            </a:r>
          </a:p>
        </p:txBody>
      </p:sp>
      <p:sp>
        <p:nvSpPr>
          <p:cNvPr id="6" name="Arrow2up"/>
          <p:cNvSpPr/>
          <p:nvPr/>
        </p:nvSpPr>
        <p:spPr>
          <a:xfrm>
            <a:off x="4237200" y="830000"/>
            <a:ext cx="3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7" name="Arrow2mid"/>
          <p:cNvSpPr/>
          <p:nvPr/>
        </p:nvSpPr>
        <p:spPr>
          <a:xfrm>
            <a:off x="4237200" y="2230000"/>
            <a:ext cx="3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8" name="Arrow2bot"/>
          <p:cNvSpPr/>
          <p:nvPr/>
        </p:nvSpPr>
        <p:spPr>
          <a:xfrm>
            <a:off x="4237200" y="3630000"/>
            <a:ext cx="3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9" name="ActuatorBox"/>
          <p:cNvSpPr/>
          <p:nvPr/>
        </p:nvSpPr>
        <p:spPr>
          <a:xfrm>
            <a:off x="4617200" y="730000"/>
            <a:ext cx="1450000" cy="1100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wrap="square" lIns="91440" tIns="91440" rIns="91440" bIns="9144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ACTUATORS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Buzzer / Siren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Fan Relay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LEDs</a:t>
            </a:r>
          </a:p>
        </p:txBody>
      </p:sp>
      <p:sp>
        <p:nvSpPr>
          <p:cNvPr id="10" name="MQTTBox"/>
          <p:cNvSpPr/>
          <p:nvPr/>
        </p:nvSpPr>
        <p:spPr>
          <a:xfrm>
            <a:off x="4617200" y="1980000"/>
            <a:ext cx="1450000" cy="110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91440" tIns="91440" rIns="91440" bIns="9144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IoT LAYER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Wi-Fi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MQTT Protocol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JSON Payload</a:t>
            </a:r>
          </a:p>
        </p:txBody>
      </p:sp>
      <p:sp>
        <p:nvSpPr>
          <p:cNvPr id="11" name="MLBox"/>
          <p:cNvSpPr/>
          <p:nvPr/>
        </p:nvSpPr>
        <p:spPr>
          <a:xfrm>
            <a:off x="4617200" y="3230000"/>
            <a:ext cx="1450000" cy="11000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txBody>
          <a:bodyPr wrap="square" lIns="91440" tIns="91440" rIns="91440" bIns="9144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ML ENGINE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Anomaly Detection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Isolation Forest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Prediction</a:t>
            </a:r>
          </a:p>
        </p:txBody>
      </p:sp>
      <p:sp>
        <p:nvSpPr>
          <p:cNvPr id="12" name="Arrow3"/>
          <p:cNvSpPr/>
          <p:nvPr/>
        </p:nvSpPr>
        <p:spPr>
          <a:xfrm>
            <a:off x="6067200" y="2230000"/>
            <a:ext cx="3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3" name="AppBox"/>
          <p:cNvSpPr/>
          <p:nvPr/>
        </p:nvSpPr>
        <p:spPr>
          <a:xfrm>
            <a:off x="6454457" y="730000"/>
            <a:ext cx="1700000" cy="3800000"/>
          </a:xfrm>
          <a:prstGeom prst="rect">
            <a:avLst/>
          </a:prstGeom>
          <a:solidFill>
            <a:srgbClr val="36454F"/>
          </a:solidFill>
          <a:ln w="19050">
            <a:solidFill>
              <a:srgbClr val="02C39A"/>
            </a:solidFill>
          </a:ln>
        </p:spPr>
        <p:txBody>
          <a:bodyPr wrap="square" lIns="91440" tIns="91440" rIns="91440" bIns="9144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/>
              </a:rPr>
              <a:t>MOBILE / WEB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/>
              </a:rPr>
              <a:t>DASHBOARD</a:t>
            </a:r>
          </a:p>
          <a:p>
            <a:pPr marL="0" indent="0" algn="ctr">
              <a:buNone/>
            </a:pPr>
            <a:r>
              <a:rPr lang="en-US" sz="400" dirty="0">
                <a:solidFill>
                  <a:srgbClr val="36454F"/>
                </a:solidFill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Live Sensor Data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Security Alerts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Safety Alerts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RTOS Metrics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ML Predictions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Alarm Control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Event History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thodology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00000"/>
            <a:ext cx="8229600" cy="53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3" name="B1"/>
          <p:cNvSpPr/>
          <p:nvPr/>
        </p:nvSpPr>
        <p:spPr>
          <a:xfrm>
            <a:off x="457200" y="870000"/>
            <a:ext cx="320000" cy="87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1E3A"/>
                </a:solidFill>
                <a:latin typeface="Calibri"/>
              </a:rPr>
              <a:t>1</a:t>
            </a:r>
          </a:p>
        </p:txBody>
      </p:sp>
      <p:sp>
        <p:nvSpPr>
          <p:cNvPr id="4" name="S1"/>
          <p:cNvSpPr/>
          <p:nvPr/>
        </p:nvSpPr>
        <p:spPr>
          <a:xfrm>
            <a:off x="777200" y="870000"/>
            <a:ext cx="3560000" cy="870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PHASE 1: Hardware Setup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</a:rPr>
              <a:t>Connect all sensors and actuators to ESP32 on breadboard</a:t>
            </a:r>
          </a:p>
        </p:txBody>
      </p:sp>
      <p:sp>
        <p:nvSpPr>
          <p:cNvPr id="5" name="B2"/>
          <p:cNvSpPr/>
          <p:nvPr/>
        </p:nvSpPr>
        <p:spPr>
          <a:xfrm>
            <a:off x="4687000" y="870000"/>
            <a:ext cx="320000" cy="87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1E3A"/>
                </a:solidFill>
                <a:latin typeface="Calibri"/>
              </a:rPr>
              <a:t>2</a:t>
            </a:r>
          </a:p>
        </p:txBody>
      </p:sp>
      <p:sp>
        <p:nvSpPr>
          <p:cNvPr id="6" name="S2"/>
          <p:cNvSpPr/>
          <p:nvPr/>
        </p:nvSpPr>
        <p:spPr>
          <a:xfrm>
            <a:off x="5007000" y="870000"/>
            <a:ext cx="3680000" cy="87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PHASE 2: RTOS Firmware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</a:rPr>
              <a:t>Design priority-based FreeRTOS task architecture</a:t>
            </a:r>
          </a:p>
        </p:txBody>
      </p:sp>
      <p:sp>
        <p:nvSpPr>
          <p:cNvPr id="7" name="B3"/>
          <p:cNvSpPr/>
          <p:nvPr/>
        </p:nvSpPr>
        <p:spPr>
          <a:xfrm>
            <a:off x="457200" y="1870000"/>
            <a:ext cx="320000" cy="87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1E3A"/>
                </a:solidFill>
                <a:latin typeface="Calibri"/>
              </a:rPr>
              <a:t>3</a:t>
            </a:r>
          </a:p>
        </p:txBody>
      </p:sp>
      <p:sp>
        <p:nvSpPr>
          <p:cNvPr id="8" name="S3"/>
          <p:cNvSpPr/>
          <p:nvPr/>
        </p:nvSpPr>
        <p:spPr>
          <a:xfrm>
            <a:off x="777200" y="1870000"/>
            <a:ext cx="3560000" cy="87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PHASE 3: Trace Hooks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</a:rPr>
              <a:t>Integrate FreeRTOS trace hooks for performance metrics</a:t>
            </a:r>
          </a:p>
        </p:txBody>
      </p:sp>
      <p:sp>
        <p:nvSpPr>
          <p:cNvPr id="9" name="B4"/>
          <p:cNvSpPr/>
          <p:nvPr/>
        </p:nvSpPr>
        <p:spPr>
          <a:xfrm>
            <a:off x="4687000" y="1870000"/>
            <a:ext cx="320000" cy="87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1E3A"/>
                </a:solidFill>
                <a:latin typeface="Calibri"/>
              </a:rPr>
              <a:t>4</a:t>
            </a:r>
          </a:p>
        </p:txBody>
      </p:sp>
      <p:sp>
        <p:nvSpPr>
          <p:cNvPr id="10" name="S4"/>
          <p:cNvSpPr/>
          <p:nvPr/>
        </p:nvSpPr>
        <p:spPr>
          <a:xfrm>
            <a:off x="5007000" y="1870000"/>
            <a:ext cx="3680000" cy="870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PHASE 4: IoT &amp; App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</a:rPr>
              <a:t>Build MQTT pipeline and mobile/web dashboard app</a:t>
            </a:r>
          </a:p>
        </p:txBody>
      </p:sp>
      <p:sp>
        <p:nvSpPr>
          <p:cNvPr id="11" name="B5"/>
          <p:cNvSpPr/>
          <p:nvPr/>
        </p:nvSpPr>
        <p:spPr>
          <a:xfrm>
            <a:off x="457200" y="2870000"/>
            <a:ext cx="320000" cy="87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1E3A"/>
                </a:solidFill>
                <a:latin typeface="Calibri"/>
              </a:rPr>
              <a:t>5</a:t>
            </a:r>
          </a:p>
        </p:txBody>
      </p:sp>
      <p:sp>
        <p:nvSpPr>
          <p:cNvPr id="12" name="S5"/>
          <p:cNvSpPr/>
          <p:nvPr/>
        </p:nvSpPr>
        <p:spPr>
          <a:xfrm>
            <a:off x="777200" y="2870000"/>
            <a:ext cx="3560000" cy="8700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PHASE 5: ML Integration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</a:rPr>
              <a:t>Train Isolation Forest on sensor data for anomaly detection</a:t>
            </a:r>
          </a:p>
        </p:txBody>
      </p:sp>
      <p:sp>
        <p:nvSpPr>
          <p:cNvPr id="13" name="B6"/>
          <p:cNvSpPr/>
          <p:nvPr/>
        </p:nvSpPr>
        <p:spPr>
          <a:xfrm>
            <a:off x="4687000" y="2870000"/>
            <a:ext cx="320000" cy="87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1E3A"/>
                </a:solidFill>
                <a:latin typeface="Calibri"/>
              </a:rPr>
              <a:t>6</a:t>
            </a:r>
          </a:p>
        </p:txBody>
      </p:sp>
      <p:sp>
        <p:nvSpPr>
          <p:cNvPr id="14" name="S6"/>
          <p:cNvSpPr/>
          <p:nvPr/>
        </p:nvSpPr>
        <p:spPr>
          <a:xfrm>
            <a:off x="5007000" y="2870000"/>
            <a:ext cx="3680000" cy="870000"/>
          </a:xfrm>
          <a:prstGeom prst="rect">
            <a:avLst/>
          </a:prstGeom>
          <a:solidFill>
            <a:srgbClr val="021E3A"/>
          </a:solidFill>
          <a:ln w="19050">
            <a:solidFill>
              <a:srgbClr val="02C39A"/>
            </a:solidFill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/>
              </a:rPr>
              <a:t>PHASE 6: Testing &amp; Validation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</a:rPr>
              <a:t>Stress-test with simultaneous events; measure latency</a:t>
            </a:r>
          </a:p>
        </p:txBody>
      </p:sp>
      <p:sp>
        <p:nvSpPr>
          <p:cNvPr id="15" name="Tools"/>
          <p:cNvSpPr/>
          <p:nvPr/>
        </p:nvSpPr>
        <p:spPr>
          <a:xfrm>
            <a:off x="457200" y="3900000"/>
            <a:ext cx="8229600" cy="75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/>
              </a:rPr>
              <a:t>Tools: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>ESP-IDF (FreeRTOS)  |  Python (ML/Backend)  |  MQTT Broker  |  React / Flutter (Dashboard)  |  Breadboard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 Logic">
    <p:bg>
      <p:bgPr>
        <a:solidFill>
          <a:srgbClr val="02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5000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/>
              </a:rPr>
              <a:t>Machine Learning Logic</a:t>
            </a:r>
          </a:p>
        </p:txBody>
      </p:sp>
      <p:sp>
        <p:nvSpPr>
          <p:cNvPr id="3" name="PipeHdr"/>
          <p:cNvSpPr/>
          <p:nvPr/>
        </p:nvSpPr>
        <p:spPr>
          <a:xfrm>
            <a:off x="457200" y="73000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/>
              </a:rPr>
              <a:t>Anomaly Detection Pipeline  (Isolation Forest Algorithm)</a:t>
            </a:r>
          </a:p>
        </p:txBody>
      </p:sp>
      <p:sp>
        <p:nvSpPr>
          <p:cNvPr id="4" name="StepA"/>
          <p:cNvSpPr/>
          <p:nvPr/>
        </p:nvSpPr>
        <p:spPr>
          <a:xfrm>
            <a:off x="457200" y="1120000"/>
            <a:ext cx="1420000" cy="750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Data Collection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/>
              </a:rPr>
              <a:t>Sensors stream via MQTT</a:t>
            </a:r>
          </a:p>
        </p:txBody>
      </p:sp>
      <p:sp>
        <p:nvSpPr>
          <p:cNvPr id="5" name="ArrA"/>
          <p:cNvSpPr/>
          <p:nvPr/>
        </p:nvSpPr>
        <p:spPr>
          <a:xfrm>
            <a:off x="1877200" y="1370000"/>
            <a:ext cx="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6" name="StepB"/>
          <p:cNvSpPr/>
          <p:nvPr/>
        </p:nvSpPr>
        <p:spPr>
          <a:xfrm>
            <a:off x="2177200" y="1120000"/>
            <a:ext cx="1420000" cy="75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Feature Extraction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/>
              </a:rPr>
              <a:t>Temp, gas, motion vectors</a:t>
            </a:r>
          </a:p>
        </p:txBody>
      </p:sp>
      <p:sp>
        <p:nvSpPr>
          <p:cNvPr id="7" name="ArrB"/>
          <p:cNvSpPr/>
          <p:nvPr/>
        </p:nvSpPr>
        <p:spPr>
          <a:xfrm>
            <a:off x="3597200" y="1370000"/>
            <a:ext cx="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8" name="StepC"/>
          <p:cNvSpPr/>
          <p:nvPr/>
        </p:nvSpPr>
        <p:spPr>
          <a:xfrm>
            <a:off x="3897200" y="1120000"/>
            <a:ext cx="1420000" cy="7500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Model Inference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ECE2D0"/>
                </a:solidFill>
                <a:latin typeface="Calibri"/>
              </a:rPr>
              <a:t>Isolation Forest scoring</a:t>
            </a:r>
          </a:p>
        </p:txBody>
      </p:sp>
      <p:sp>
        <p:nvSpPr>
          <p:cNvPr id="9" name="ArrC"/>
          <p:cNvSpPr/>
          <p:nvPr/>
        </p:nvSpPr>
        <p:spPr>
          <a:xfrm>
            <a:off x="5317200" y="1370000"/>
            <a:ext cx="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0" name="StepD"/>
          <p:cNvSpPr/>
          <p:nvPr/>
        </p:nvSpPr>
        <p:spPr>
          <a:xfrm>
            <a:off x="5617200" y="1120000"/>
            <a:ext cx="1420000" cy="75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Decision Output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/>
              </a:rPr>
              <a:t>Alert / Normal / Warn</a:t>
            </a:r>
          </a:p>
        </p:txBody>
      </p:sp>
      <p:sp>
        <p:nvSpPr>
          <p:cNvPr id="11" name="ArrD"/>
          <p:cNvSpPr/>
          <p:nvPr/>
        </p:nvSpPr>
        <p:spPr>
          <a:xfrm>
            <a:off x="7037200" y="1370000"/>
            <a:ext cx="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2" name="StepE"/>
          <p:cNvSpPr/>
          <p:nvPr/>
        </p:nvSpPr>
        <p:spPr>
          <a:xfrm>
            <a:off x="7337200" y="1120000"/>
            <a:ext cx="1349800" cy="75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/>
              </a:rPr>
              <a:t>RTOS Action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/>
              </a:rPr>
              <a:t>Trigger Task + Alert</a:t>
            </a:r>
          </a:p>
        </p:txBody>
      </p:sp>
      <p:sp>
        <p:nvSpPr>
          <p:cNvPr id="13" name="D1"/>
          <p:cNvSpPr/>
          <p:nvPr/>
        </p:nvSpPr>
        <p:spPr>
          <a:xfrm>
            <a:off x="457200" y="2100000"/>
            <a:ext cx="2600000" cy="2400000"/>
          </a:xfrm>
          <a:prstGeom prst="rect">
            <a:avLst/>
          </a:prstGeom>
          <a:solidFill>
            <a:srgbClr val="0D2F45"/>
          </a:solidFill>
          <a:ln w="19050">
            <a:solidFill>
              <a:srgbClr val="1C7293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/>
              </a:rPr>
              <a:t>Input Features</a:t>
            </a:r>
          </a:p>
          <a:p>
            <a:pPr marL="0" indent="0">
              <a:buNone/>
            </a:pPr>
            <a:r>
              <a:rPr lang="en-US" sz="400" dirty="0">
                <a:solidFill>
                  <a:srgbClr val="0D2F45"/>
                </a:solidFill>
              </a:rPr>
              <a:t>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reading (C)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 concentration (ppm)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 count per minute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Vibration amplitude (mV)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level (dB)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(%)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execution latency (ms)</a:t>
            </a:r>
          </a:p>
        </p:txBody>
      </p:sp>
      <p:sp>
        <p:nvSpPr>
          <p:cNvPr id="14" name="D2"/>
          <p:cNvSpPr/>
          <p:nvPr/>
        </p:nvSpPr>
        <p:spPr>
          <a:xfrm>
            <a:off x="3200000" y="2100000"/>
            <a:ext cx="2600000" cy="2400000"/>
          </a:xfrm>
          <a:prstGeom prst="rect">
            <a:avLst/>
          </a:prstGeom>
          <a:solidFill>
            <a:srgbClr val="0D2F45"/>
          </a:solidFill>
          <a:ln w="19050">
            <a:solidFill>
              <a:srgbClr val="6D2E46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/>
              </a:rPr>
              <a:t>Model Details</a:t>
            </a:r>
          </a:p>
          <a:p>
            <a:pPr marL="0" indent="0">
              <a:buNone/>
            </a:pPr>
            <a:r>
              <a:rPr lang="en-US" sz="400" dirty="0">
                <a:solidFill>
                  <a:srgbClr val="0D2F45"/>
                </a:solidFill>
              </a:rPr>
              <a:t>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Isolation Forest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Normal operation logs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scikit-learn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Anomaly score (-1 or 1)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Target 92%+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Backend server / edge</a:t>
            </a:r>
          </a:p>
        </p:txBody>
      </p:sp>
      <p:sp>
        <p:nvSpPr>
          <p:cNvPr id="15" name="D3"/>
          <p:cNvSpPr/>
          <p:nvPr/>
        </p:nvSpPr>
        <p:spPr>
          <a:xfrm>
            <a:off x="5943000" y="2100000"/>
            <a:ext cx="2743800" cy="2400000"/>
          </a:xfrm>
          <a:prstGeom prst="rect">
            <a:avLst/>
          </a:prstGeom>
          <a:solidFill>
            <a:srgbClr val="0D2F45"/>
          </a:solidFill>
          <a:ln w="19050">
            <a:solidFill>
              <a:srgbClr val="028090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/>
              </a:rPr>
              <a:t>Alert Categories</a:t>
            </a:r>
          </a:p>
          <a:p>
            <a:pPr marL="0" indent="0">
              <a:buNone/>
            </a:pPr>
            <a:r>
              <a:rPr lang="en-US" sz="400" dirty="0">
                <a:solidFill>
                  <a:srgbClr val="0D2F45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Normal (Score = 1)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action required; dashboard green</a:t>
            </a:r>
          </a:p>
          <a:p>
            <a:pPr marL="0" indent="0">
              <a:buNone/>
            </a:pPr>
            <a:r>
              <a:rPr lang="en-US" sz="400" dirty="0">
                <a:solidFill>
                  <a:srgbClr val="0D2F45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/>
              </a:rPr>
              <a:t>Warning (0 to -0.5)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event; increase monitoring freq</a:t>
            </a:r>
          </a:p>
          <a:p>
            <a:pPr marL="0" indent="0">
              <a:buNone/>
            </a:pPr>
            <a:r>
              <a:rPr lang="en-US" sz="400" dirty="0">
                <a:solidFill>
                  <a:srgbClr val="0D2F45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/>
              </a:rPr>
              <a:t>Anomaly (Score = -1)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 RTOS EmergencyTask + App alert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bile App Architecture">
    <p:bg>
      <p:bgPr>
        <a:solidFill>
          <a:srgbClr val="02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5000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/>
              </a:rPr>
              <a:t>Mobile Application Architecture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68000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Flutter + Riverpod + Hive  |  Real-time WebSocket + ML Inference</a:t>
            </a:r>
          </a:p>
        </p:txBody>
      </p:sp>
      <p:sp>
        <p:nvSpPr>
          <p:cNvPr id="4" name="L1"/>
          <p:cNvSpPr/>
          <p:nvPr/>
        </p:nvSpPr>
        <p:spPr>
          <a:xfrm>
            <a:off x="457200" y="1050000"/>
            <a:ext cx="2800000" cy="680000"/>
          </a:xfrm>
          <a:prstGeom prst="rect">
            <a:avLst/>
          </a:prstGeom>
          <a:solidFill>
            <a:srgbClr val="065A82"/>
          </a:solidFill>
          <a:ln w="19050">
            <a:solidFill>
              <a:srgbClr val="02C39A"/>
            </a:solidFill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/>
              </a:rPr>
              <a:t>Presentation Layer (UI)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Dashboard | History | Alerts | Analytics | Settings</a:t>
            </a:r>
          </a:p>
        </p:txBody>
      </p:sp>
      <p:sp>
        <p:nvSpPr>
          <p:cNvPr id="5" name="Arr1"/>
          <p:cNvSpPr/>
          <p:nvPr/>
        </p:nvSpPr>
        <p:spPr>
          <a:xfrm>
            <a:off x="1657200" y="173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/>
              </a:rPr>
              <a:t>↓</a:t>
            </a:r>
          </a:p>
        </p:txBody>
      </p:sp>
      <p:sp>
        <p:nvSpPr>
          <p:cNvPr id="6" name="L2"/>
          <p:cNvSpPr/>
          <p:nvPr/>
        </p:nvSpPr>
        <p:spPr>
          <a:xfrm>
            <a:off x="457200" y="2030000"/>
            <a:ext cx="2800000" cy="680000"/>
          </a:xfrm>
          <a:prstGeom prst="rect">
            <a:avLst/>
          </a:prstGeom>
          <a:solidFill>
            <a:srgbClr val="1C7293"/>
          </a:solidFill>
          <a:ln w="19050">
            <a:solidFill>
              <a:srgbClr val="028090"/>
            </a:solidFill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State Management (Riverpod)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/>
              </a:rPr>
              <a:t>Providers | Notifiers | State Watchers</a:t>
            </a:r>
          </a:p>
        </p:txBody>
      </p:sp>
      <p:sp>
        <p:nvSpPr>
          <p:cNvPr id="7" name="Arr2"/>
          <p:cNvSpPr/>
          <p:nvPr/>
        </p:nvSpPr>
        <p:spPr>
          <a:xfrm>
            <a:off x="1657200" y="271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/>
              </a:rPr>
              <a:t>↓</a:t>
            </a:r>
          </a:p>
        </p:txBody>
      </p:sp>
      <p:sp>
        <p:nvSpPr>
          <p:cNvPr id="8" name="L3"/>
          <p:cNvSpPr/>
          <p:nvPr/>
        </p:nvSpPr>
        <p:spPr>
          <a:xfrm>
            <a:off x="457200" y="3010000"/>
            <a:ext cx="2800000" cy="680000"/>
          </a:xfrm>
          <a:prstGeom prst="rect">
            <a:avLst/>
          </a:prstGeom>
          <a:solidFill>
            <a:srgbClr val="6D2E46"/>
          </a:solidFill>
          <a:ln w="19050">
            <a:solidFill>
              <a:srgbClr val="A26769"/>
            </a:solidFill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Domain Layer (Business Logic)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ML Service | Alert Logic | Performance Tracker</a:t>
            </a:r>
          </a:p>
        </p:txBody>
      </p:sp>
      <p:sp>
        <p:nvSpPr>
          <p:cNvPr id="9" name="Arr3"/>
          <p:cNvSpPr/>
          <p:nvPr/>
        </p:nvSpPr>
        <p:spPr>
          <a:xfrm>
            <a:off x="1657200" y="369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/>
              </a:rPr>
              <a:t>↓</a:t>
            </a:r>
          </a:p>
        </p:txBody>
      </p:sp>
      <p:sp>
        <p:nvSpPr>
          <p:cNvPr id="10" name="L4"/>
          <p:cNvSpPr/>
          <p:nvPr/>
        </p:nvSpPr>
        <p:spPr>
          <a:xfrm>
            <a:off x="457200" y="3990000"/>
            <a:ext cx="2800000" cy="680000"/>
          </a:xfrm>
          <a:prstGeom prst="rect">
            <a:avLst/>
          </a:prstGeom>
          <a:solidFill>
            <a:srgbClr val="021E3A"/>
          </a:solidFill>
          <a:ln w="19050">
            <a:solidFill>
              <a:srgbClr val="02C39A"/>
            </a:solidFill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/>
              </a:rPr>
              <a:t>Data Layer (Storage + Comms)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Hive (local) | WebSocket | Repository</a:t>
            </a:r>
          </a:p>
        </p:txBody>
      </p:sp>
      <p:sp>
        <p:nvSpPr>
          <p:cNvPr id="11" name="R1"/>
          <p:cNvSpPr/>
          <p:nvPr/>
        </p:nvSpPr>
        <p:spPr>
          <a:xfrm>
            <a:off x="3500000" y="1050000"/>
            <a:ext cx="2600000" cy="470000"/>
          </a:xfrm>
          <a:prstGeom prst="rect">
            <a:avLst/>
          </a:prstGeom>
          <a:solidFill>
            <a:srgbClr val="0D3349"/>
          </a:solidFill>
          <a:ln w="12700">
            <a:solidFill>
              <a:srgbClr val="02809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/>
              </a:rPr>
              <a:t>Flutter / Dart  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Cross-platform mobile framework</a:t>
            </a:r>
          </a:p>
        </p:txBody>
      </p:sp>
      <p:sp>
        <p:nvSpPr>
          <p:cNvPr id="12" name="R2"/>
          <p:cNvSpPr/>
          <p:nvPr/>
        </p:nvSpPr>
        <p:spPr>
          <a:xfrm>
            <a:off x="3500000" y="1560000"/>
            <a:ext cx="2600000" cy="470000"/>
          </a:xfrm>
          <a:prstGeom prst="rect">
            <a:avLst/>
          </a:prstGeom>
          <a:solidFill>
            <a:srgbClr val="0D3349"/>
          </a:solidFill>
          <a:ln w="12700">
            <a:solidFill>
              <a:srgbClr val="065A82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/>
              </a:rPr>
              <a:t>Riverpod  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Reactive state management</a:t>
            </a:r>
          </a:p>
        </p:txBody>
      </p:sp>
      <p:sp>
        <p:nvSpPr>
          <p:cNvPr id="13" name="R3"/>
          <p:cNvSpPr/>
          <p:nvPr/>
        </p:nvSpPr>
        <p:spPr>
          <a:xfrm>
            <a:off x="3500000" y="2070000"/>
            <a:ext cx="2600000" cy="470000"/>
          </a:xfrm>
          <a:prstGeom prst="rect">
            <a:avLst/>
          </a:prstGeom>
          <a:solidFill>
            <a:srgbClr val="0D3349"/>
          </a:solidFill>
          <a:ln w="12700">
            <a:solidFill>
              <a:srgbClr val="6D2E46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/>
              </a:rPr>
              <a:t>Hive Flutter  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Local storage for sensor history</a:t>
            </a:r>
          </a:p>
        </p:txBody>
      </p:sp>
      <p:sp>
        <p:nvSpPr>
          <p:cNvPr id="14" name="R4"/>
          <p:cNvSpPr/>
          <p:nvPr/>
        </p:nvSpPr>
        <p:spPr>
          <a:xfrm>
            <a:off x="3500000" y="2580000"/>
            <a:ext cx="2600000" cy="470000"/>
          </a:xfrm>
          <a:prstGeom prst="rect">
            <a:avLst/>
          </a:prstGeom>
          <a:solidFill>
            <a:srgbClr val="0D3349"/>
          </a:solidFill>
          <a:ln w="12700">
            <a:solidFill>
              <a:srgbClr val="02809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/>
              </a:rPr>
              <a:t>WebSocket  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Real-time ESP32 communication</a:t>
            </a:r>
          </a:p>
        </p:txBody>
      </p:sp>
      <p:sp>
        <p:nvSpPr>
          <p:cNvPr id="15" name="R5"/>
          <p:cNvSpPr/>
          <p:nvPr/>
        </p:nvSpPr>
        <p:spPr>
          <a:xfrm>
            <a:off x="3500000" y="3090000"/>
            <a:ext cx="2600000" cy="470000"/>
          </a:xfrm>
          <a:prstGeom prst="rect">
            <a:avLst/>
          </a:prstGeom>
          <a:solidFill>
            <a:srgbClr val="0D3349"/>
          </a:solidFill>
          <a:ln w="12700">
            <a:solidFill>
              <a:srgbClr val="02C39A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/>
              </a:rPr>
              <a:t>ML Service (Dart)  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Isolation Forest inference on-device</a:t>
            </a:r>
          </a:p>
        </p:txBody>
      </p:sp>
      <p:sp>
        <p:nvSpPr>
          <p:cNvPr id="16" name="R6"/>
          <p:cNvSpPr/>
          <p:nvPr/>
        </p:nvSpPr>
        <p:spPr>
          <a:xfrm>
            <a:off x="3500000" y="3600000"/>
            <a:ext cx="2600000" cy="470000"/>
          </a:xfrm>
          <a:prstGeom prst="rect">
            <a:avLst/>
          </a:prstGeom>
          <a:solidFill>
            <a:srgbClr val="0D3349"/>
          </a:solidFill>
          <a:ln w="12700">
            <a:solidFill>
              <a:srgbClr val="1C7293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/>
              </a:rPr>
              <a:t>Boot Controller  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App lifecycle + performance tracker</a:t>
            </a:r>
          </a:p>
        </p:txBody>
      </p:sp>
      <p:pic>
        <p:nvPicPr>
          <p:cNvPr id="17" name="Dash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000000"/>
            <a:ext cx="2100000" cy="3700000"/>
          </a:xfrm>
          <a:prstGeom prst="rect">
            <a:avLst/>
          </a:prstGeom>
          <a:ln w="19050">
            <a:solidFill>
              <a:srgbClr val="02C39A"/>
            </a:solidFill>
          </a:ln>
        </p:spPr>
      </p:pic>
      <p:sp>
        <p:nvSpPr>
          <p:cNvPr id="18" name="ScreensBar"/>
          <p:cNvSpPr/>
          <p:nvPr/>
        </p:nvSpPr>
        <p:spPr>
          <a:xfrm>
            <a:off x="457200" y="4800000"/>
            <a:ext cx="5600000" cy="250000"/>
          </a:xfrm>
          <a:prstGeom prst="rect">
            <a:avLst/>
          </a:prstGeom>
          <a:solidFill>
            <a:srgbClr val="0D3349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5 Screens: </a:t>
            </a:r>
            <a:r>
              <a:rPr lang="en-US" sz="1300" dirty="0">
                <a:solidFill>
                  <a:schemeClr val="bg1"/>
                </a:solidFill>
                <a:latin typeface="Calibri"/>
              </a:rPr>
              <a:t>Dashboard  |  Analytics  |  Event History  |  System Status  |  Configuration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mple Output">
    <p:bg>
      <p:bgPr>
        <a:solidFill>
          <a:srgbClr val="02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/>
              </a:rPr>
              <a:t>Sample Output — App Screenshots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590000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/>
              </a:rPr>
              <a:t>IndustrialSafe Flutter App  —  Real-time monitoring interface running on Android</a:t>
            </a:r>
          </a:p>
        </p:txBody>
      </p:sp>
      <p:pic>
        <p:nvPicPr>
          <p:cNvPr id="4" name="Img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950000"/>
            <a:ext cx="1540000" cy="2730000"/>
          </a:xfrm>
          <a:prstGeom prst="rect">
            <a:avLst/>
          </a:prstGeom>
          <a:ln w="19050">
            <a:solidFill>
              <a:srgbClr val="02C39A"/>
            </a:solidFill>
          </a:ln>
        </p:spPr>
      </p:pic>
      <p:sp>
        <p:nvSpPr>
          <p:cNvPr id="5" name="Lbl1"/>
          <p:cNvSpPr/>
          <p:nvPr/>
        </p:nvSpPr>
        <p:spPr>
          <a:xfrm>
            <a:off x="350000" y="3710000"/>
            <a:ext cx="1540000" cy="28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pic>
        <p:nvPicPr>
          <p:cNvPr id="6" name="Img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000" y="950000"/>
            <a:ext cx="1540000" cy="2730000"/>
          </a:xfrm>
          <a:prstGeom prst="rect">
            <a:avLst/>
          </a:prstGeom>
          <a:ln w="19050">
            <a:solidFill>
              <a:srgbClr val="02C39A"/>
            </a:solidFill>
          </a:ln>
        </p:spPr>
      </p:pic>
      <p:sp>
        <p:nvSpPr>
          <p:cNvPr id="7" name="Lbl2"/>
          <p:cNvSpPr/>
          <p:nvPr/>
        </p:nvSpPr>
        <p:spPr>
          <a:xfrm>
            <a:off x="2010000" y="3710000"/>
            <a:ext cx="1540000" cy="28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pic>
        <p:nvPicPr>
          <p:cNvPr id="8" name="Img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000" y="950000"/>
            <a:ext cx="1540000" cy="2730000"/>
          </a:xfrm>
          <a:prstGeom prst="rect">
            <a:avLst/>
          </a:prstGeom>
          <a:ln w="19050">
            <a:solidFill>
              <a:srgbClr val="02C39A"/>
            </a:solidFill>
          </a:ln>
        </p:spPr>
      </p:pic>
      <p:sp>
        <p:nvSpPr>
          <p:cNvPr id="9" name="Lbl3"/>
          <p:cNvSpPr/>
          <p:nvPr/>
        </p:nvSpPr>
        <p:spPr>
          <a:xfrm>
            <a:off x="3670000" y="3710000"/>
            <a:ext cx="1540000" cy="28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Event History</a:t>
            </a:r>
          </a:p>
        </p:txBody>
      </p:sp>
      <p:pic>
        <p:nvPicPr>
          <p:cNvPr id="10" name="Img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000" y="950000"/>
            <a:ext cx="1540000" cy="2730000"/>
          </a:xfrm>
          <a:prstGeom prst="rect">
            <a:avLst/>
          </a:prstGeom>
          <a:ln w="19050">
            <a:solidFill>
              <a:srgbClr val="02C39A"/>
            </a:solidFill>
          </a:ln>
        </p:spPr>
      </p:pic>
      <p:sp>
        <p:nvSpPr>
          <p:cNvPr id="11" name="Lbl4"/>
          <p:cNvSpPr/>
          <p:nvPr/>
        </p:nvSpPr>
        <p:spPr>
          <a:xfrm>
            <a:off x="5330000" y="3710000"/>
            <a:ext cx="1540000" cy="28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RTOS Live Performance Screen </a:t>
            </a:r>
          </a:p>
        </p:txBody>
      </p:sp>
      <p:pic>
        <p:nvPicPr>
          <p:cNvPr id="12" name="Img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0000" y="950000"/>
            <a:ext cx="1540000" cy="2730000"/>
          </a:xfrm>
          <a:prstGeom prst="rect">
            <a:avLst/>
          </a:prstGeom>
          <a:ln w="19050">
            <a:solidFill>
              <a:srgbClr val="02C39A"/>
            </a:solidFill>
          </a:ln>
        </p:spPr>
      </p:pic>
      <p:sp>
        <p:nvSpPr>
          <p:cNvPr id="13" name="Lbl5"/>
          <p:cNvSpPr/>
          <p:nvPr/>
        </p:nvSpPr>
        <p:spPr>
          <a:xfrm>
            <a:off x="6990000" y="3710000"/>
            <a:ext cx="1540000" cy="280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14" name="FeatureBar"/>
          <p:cNvSpPr/>
          <p:nvPr/>
        </p:nvSpPr>
        <p:spPr>
          <a:xfrm>
            <a:off x="350000" y="4060000"/>
            <a:ext cx="8180000" cy="780000"/>
          </a:xfrm>
          <a:prstGeom prst="rect">
            <a:avLst/>
          </a:prstGeom>
          <a:solidFill>
            <a:srgbClr val="0D3349"/>
          </a:solidFill>
          <a:ln w="12700">
            <a:solidFill>
              <a:srgbClr val="065A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Key Features Demonstrated:  </a:t>
            </a:r>
            <a:r>
              <a:rPr lang="en-US" sz="1200" dirty="0">
                <a:solidFill>
                  <a:srgbClr val="FFFFFF"/>
                </a:solidFill>
                <a:latin typeface="Calibri"/>
              </a:rPr>
              <a:t>Live Gauge  |  ML Active  |  Gas Level Bar  |  RTOS Metrics  |  AI Insights  |  Event Log  |  Task Monitor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Demo Mode with simulated sensor data  |  WebSocket to ESP32  |  Alert threshold configuration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2DF89D-0C0D-2ED6-EF2F-3887B5B54C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001" y="960000"/>
            <a:ext cx="1539999" cy="27142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E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E5A03A-5608-55EA-E8F1-E541686A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9E5B25A-D2DA-5587-9986-AE1ED12BDD49}"/>
              </a:ext>
            </a:extLst>
          </p:cNvPr>
          <p:cNvSpPr/>
          <p:nvPr/>
        </p:nvSpPr>
        <p:spPr>
          <a:xfrm>
            <a:off x="457200" y="13000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/>
              </a:rPr>
              <a:t>ESP32 CIRCUIT DIAGRAM </a:t>
            </a:r>
          </a:p>
        </p:txBody>
      </p:sp>
      <p:sp>
        <p:nvSpPr>
          <p:cNvPr id="14" name="FeatureBar">
            <a:extLst>
              <a:ext uri="{FF2B5EF4-FFF2-40B4-BE49-F238E27FC236}">
                <a16:creationId xmlns:a16="http://schemas.microsoft.com/office/drawing/2014/main" id="{4D482830-01A6-B925-04EA-FBD27B582E4B}"/>
              </a:ext>
            </a:extLst>
          </p:cNvPr>
          <p:cNvSpPr/>
          <p:nvPr/>
        </p:nvSpPr>
        <p:spPr>
          <a:xfrm>
            <a:off x="350000" y="4060000"/>
            <a:ext cx="8180000" cy="780000"/>
          </a:xfrm>
          <a:prstGeom prst="rect">
            <a:avLst/>
          </a:prstGeom>
          <a:solidFill>
            <a:srgbClr val="0D3349"/>
          </a:solidFill>
          <a:ln w="12700">
            <a:solidFill>
              <a:srgbClr val="065A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Key Features Demonstrated:  </a:t>
            </a:r>
            <a:r>
              <a:rPr lang="en-US" sz="1200" dirty="0">
                <a:solidFill>
                  <a:srgbClr val="FFFFFF"/>
                </a:solidFill>
                <a:latin typeface="Calibri"/>
              </a:rPr>
              <a:t>Live Gauge  |  ML Active  |  Gas Level Bar  |  RTOS Metrics  |  AI Insights  |  Event Log  |  Task Monitor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Demo Mode with simulated sensor data  |  WebSocket to ESP32  |  Alert threshold configuration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5BD486E-366C-465F-11A7-8602726D0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057" y="580000"/>
            <a:ext cx="6146800" cy="334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70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Parameters Analyzed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Task Execution Time (milliseconds)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7335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16276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Task Priority &amp; Scheduling Behavior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12264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1600" y="206654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CPU Utilization (%)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51176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71600" y="250545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Communication Latency (ms)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" y="3058669"/>
            <a:ext cx="274320" cy="2743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37160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Emergency Response Time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15869"/>
            <a:ext cx="274320" cy="27432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371600" y="3424429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ML-based Anomaly Detection Accuracy (%)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06587" y="877147"/>
            <a:ext cx="8937413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 Chandrasekaran, M., Saravana Saran, R., Ravishankar, V., and Yasararafath, J. (2025). "RTOS Based Industrial Automation," i-manager's Journal on Embedded Systems, Vol. 3, No. 2, pp. 15-19.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[2] Trivedi,, and Vora (2023). "Real-Time Monitoring and Control System for Industry,"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IJSRD - International Journal for Scientific Research &amp; Development, Vol. 1, Issue 2, pp. 142-147.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 Barrett, S.F., Pack, D.J., Straley, C., Sircin, L., and Janack, G. (2023). "Real-Time Operating Systems: A Visual Simulator,"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Proceedings of ASEE Annual Conference and Exposition, pp. 9.1042.1-9.1042.11.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[4] Jose Sistus, M., Manikandan, A., and Janarthanan, M. (2022). "RTOS Based Device Control and Energy Monitoring System,"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International Journal of Advanced Research Trends in Engineering and Technology (IJARTET), Vol. 3, Special Issue 19.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[5] Ahmad, A.B., and Prabowo, S. (2022). "Real Time Operating Systems for Embedded Applications: Design and Implementation,"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Journal of Integrated VLSI, Embedded and Computing Technologies, Vol. 2, No. 1, pp. 37-45.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[6] Chaganty, S.K., Lavan, B., and Prasad, S.S. (2021). "Design &amp; Development of Real-Time Multitasking Microkernel Based on ARM7TDMI,"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International Journal of Instrumentation, Control and Automation (IJICA), Vol. 2, No. 1.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[7] Barry, R. (2016).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Mastering the FreeRTOS™ Real Time Kernel. Real Time Engineers Ltd.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[8] Espressif Systems.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 Technical Reference Manual. Available: https://www.espressif.com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[9] MQTT Protocol Specification v5.0 – OASIS Standard, 2019.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1746</Words>
  <Application>Microsoft Office PowerPoint</Application>
  <PresentationFormat>On-screen Show (16:9)</PresentationFormat>
  <Paragraphs>306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RTOS-Driven Industrial Security &amp; Performance Monitoring System</dc:title>
  <dc:subject>PptxGenJS Presentation</dc:subject>
  <dc:creator>Engineering Student</dc:creator>
  <cp:lastModifiedBy>sakthi raja v</cp:lastModifiedBy>
  <cp:revision>28</cp:revision>
  <dcterms:created xsi:type="dcterms:W3CDTF">2026-02-09T09:48:04Z</dcterms:created>
  <dcterms:modified xsi:type="dcterms:W3CDTF">2026-05-06T14:22:58Z</dcterms:modified>
</cp:coreProperties>
</file>